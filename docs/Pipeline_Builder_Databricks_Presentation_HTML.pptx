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60604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Title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000000"/>
                </a:solidFill>
              </a:defRPr>
            </a:pPr>
            <a:r>
              <a:t>Creating and Maintaining Silver &amp; Gold Tables</a:t>
            </a:r>
          </a:p>
          <a:p>
            <a:pPr algn="l">
              <a:spcAft>
                <a:spcPts val="400"/>
              </a:spcAft>
              <a:defRPr sz="3200" b="1">
                <a:solidFill>
                  <a:srgbClr val="000000"/>
                </a:solidFill>
              </a:defRPr>
            </a:pPr>
            <a:r>
              <a:t>with Scheduled Incremental Runs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[Presenter Name]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[Date]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000000"/>
                </a:solidFill>
              </a:defRPr>
            </a:pPr>
            <a:r>
              <a:t>[Company/Organization]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200+ lines of complex Spark code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Manual dependency management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Scattered validation logic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Difficult debugging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No built-in error handling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Manual schema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Data quality issues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Slow time-to-market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High maintenance costs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Lack of visibility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Incorrect business decisions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Resource consumption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What is Pipeline Builder?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000000"/>
                </a:solidFill>
              </a:defRPr>
            </a:pPr>
            <a:r>
              <a:t>Production-Ready Data Pipeline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• Transforms complex Spark development into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clean, maintainable code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• Built on Medallion Architecture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(Bronze → Silver → Gold)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• Key Benefits: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✓ 70% less boilerplate code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✓ Automatic dependency management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✓ Built-in validation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✓ Seamless incremental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Why Databricks + Pipeline Builder?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Managed Spark clusters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Delta Lake (ACID transactions)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Job scheduling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Enterprise security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Auto-scaling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Time travel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70% less code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Automatic dependencies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Built-in validation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Production-ready patterns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Step-by-step debugging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Incremental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000000"/>
                </a:solidFill>
              </a:defRPr>
            </a:pPr>
            <a:r>
              <a:t>Together = Powerful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What You'll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1. How to build Silver and Gold tables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on Databricks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2. How to schedule incremental updates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automatically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3. Best practices for production deployment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4. Real-world examples and patterns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5. How to monitor and maintain pipelines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What is the Medallion Architecture?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Data lakehouse design pattern that organizes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data into three quality layers: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• Bronze: Raw data (as-is, validated)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• Silver: Cleaned and enriched data</a:t>
            </a:r>
          </a:p>
          <a:p>
            <a:pPr algn="l">
              <a:spcAft>
                <a:spcPts val="400"/>
              </a:spcAft>
              <a:defRPr sz="2400" b="0">
                <a:solidFill>
                  <a:srgbClr val="000000"/>
                </a:solidFill>
              </a:defRPr>
            </a:pPr>
            <a:r>
              <a:t>• Gold: Business-ready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┌─────────────────────┐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   GOLD LAYER        │  ← Business Analytics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   (Highest Quality) 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├─────────────────────┤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   SILVER LAYER      │  ← Cleaned &amp; Enriched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   (Medium Quality)  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├─────────────────────┤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   BRONZE LAYER      │  ← Raw Data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   (Basic Quality)   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└─────────────────────┘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Bronze Layer - Raw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Stores in Delta Lake format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Applies basic validation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Tracks metadata and lineage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Supports incremental processing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Silver Layer - Cleaned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Transforms Bronze data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Applies business rules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Higher quality standards (95%+)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Supports incremental updates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Handles deduplication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Gold Layer - Business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Aggregates Silver data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Creates KPIs and summaries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Optimized for fast queries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Highest quality standards (98%+)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Typically uses overwrite mode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Data 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Raw Data Sources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▼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┌──────────────────────┐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   BRONZE LAYER       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   Raw Data           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   • Validated        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   • As-Is            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└──────────┬───────────┘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▼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┌──────────────────────┐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   SILVER LAYER       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   Cleaned Data       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   • Enriched         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   • Business Rules   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└──────────┬───────────┘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▼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┌──────────────────────┐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   GOLD LAYER         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   Business Analytics 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   • Aggregated       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│   • Metrics Ready    │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</a:defRPr>
            </a:pPr>
            <a:r>
              <a:t>└──────────────────────┘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Benefits of Medallion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Progressive quality gates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Early error detection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Clear separation of concerns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64592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Independent reprocessing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Time travel capabilities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Complete audit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Optimized storage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Parallel processing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Efficient incremental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3657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Clear data flow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Easy debugging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Scalable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How Pipeline Builder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000000"/>
                </a:solidFill>
              </a:defRPr>
            </a:pPr>
            <a:r>
              <a:t>Fluent API for Intuitive Pipeline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8229600" cy="5029200"/>
          </a:xfrm>
          <a:prstGeom prst="rect">
            <a:avLst/>
          </a:prstGeom>
          <a:solidFill>
            <a:srgbClr val="1E1E1E"/>
          </a:solidFill>
          <a:ln w="38100">
            <a:solidFill>
              <a:srgbClr val="00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from pipeline_builder import PipelineBuilder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builder = PipelineBuilder(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spark=spark,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schema="analytics"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PipelineBuilder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Constructs pipelines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Defines steps and rules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PipelineRunner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Executes pipelines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Handles execution modes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Validation System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Enforces data quality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Tracks validation rates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Validation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1E1E1E"/>
          </a:solidFill>
          <a:ln w="38100">
            <a:solidFill>
              <a:srgbClr val="00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rules = {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"user_id": ["not_null"],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"age": ["gt", 0],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"status": ["in", ["active", "inactive"]]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String rules: "not_null", "gt", 0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PySpark expressions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Automatic conversion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Clear error messages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Parallel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Sequential Execution: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Step A: 2s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Step B: 2s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Step C: 2s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Total: 6s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371600"/>
            <a:ext cx="3886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Parallel Execution: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Step A: 2s ┐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Step B: 2s ├─ All concurrent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Step C: 2s ┘</a:t>
            </a:r>
          </a:p>
          <a:p>
            <a:pPr>
              <a:spcAft>
                <a:spcPts val="600"/>
              </a:spcAft>
              <a:defRPr sz="2000">
                <a:solidFill>
                  <a:srgbClr val="000000"/>
                </a:solidFill>
              </a:defRPr>
            </a:pPr>
            <a:r>
              <a:t>Total: 2s 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Automatic Dependency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1E1E1E"/>
          </a:solidFill>
          <a:ln w="38100">
            <a:solidFill>
              <a:srgbClr val="00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 Pipeline Builder automatically knows dependencies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builder.with_bronze_rules(name="events", ...)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builder.add_silver_transform(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name="clean", 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source_bronze="events", ...)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builder.add_gold_transform(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name="analytics",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    source_silvers=["clean"], ...)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Detects dependencies between steps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Validates all dependencies exist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Orders execution correctly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Prevents circular dependencies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Code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1E1E1E"/>
          </a:solidFill>
          <a:ln w="38100">
            <a:solidFill>
              <a:srgbClr val="00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**Images to Insert:**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- Code comparison visualization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- Metrics icons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- Before/After arrows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**Layout:** Two-column code comparison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---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## SECTION 4: DATABRICKS DEPLOYMENT (Slides 18-23)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### Slide 18: Deployment Patterns Overview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**Title (44pt, Bold):**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Single Notebook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1E1E1E"/>
          </a:solidFill>
          <a:ln w="38100">
            <a:solidFill>
              <a:srgbClr val="00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 Configuration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target_schema = "analytics"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 Build pipeline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builder = PipelineBuilder(...)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builder.with_bronze_rules(...)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builder.add_silver_transform(...)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builder.add_gold_transform(...)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 Execute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pipeline = builder.to_pipeline()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result = pipeline.run_initial_load(...)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All code in one notebook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Sequential execution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Simple to understand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Easy to test locally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Simple setup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All code in one place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Easy to maintain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Quick to deploy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Multi-Task Job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Separate tasks with dependencies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Independent scaling per task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Different cluster types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Production-ready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Job Configuration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Scheduling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Daily: "0 0 2 * * ?"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Hourly: "0 0 */1 * * ?"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Weekly: "0 0 0 * * MON"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Every 15 min: "0 */15 * * * ?"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Cluster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Adaptive Query Execution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Delta auto-compact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Optimize writes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Keep statistics updated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Building a Complete Pipeline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Step 1 - Initialize Builder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1E1E1E"/>
          </a:solidFill>
          <a:ln w="38100">
            <a:solidFill>
              <a:srgbClr val="00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Why Incremental Processing?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Sets up Spark session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Creates target schema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Configures validation thresholds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Initializes builder instance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Validates raw data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Stores in Delta table: analytics.events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Enables incremental processing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Tracks metadata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Transforms Bronze data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Applies business logic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Creates Silver table: analytics.enriched_events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Higher quality standards (95%+)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Aggregates Silver data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Creates business metrics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Creates Gold table: analytics.daily_analytics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Highest quality standards (98%+)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How Incremental Runs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Incremental Column: Timestamp tracks data age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Delta Lake Time Travel: Tracks processed data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Automatic Filtering: Only processes new data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Configuring Incremental Processing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Incremental Processing Flow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Scheduling on Databricks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Full Refresh vs Incremental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Silver &amp; Gold Processing Modes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Monitoring Incremental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1E1E1E"/>
          </a:solidFill>
          <a:ln w="38100">
            <a:solidFill>
              <a:srgbClr val="00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Production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Run ID, timestamps, mode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Success/failure status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Rows processed/written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Duration, validation rates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Error messages (if any)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Schema Management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Always create schemas explicitly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Use consistent naming conventions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Data Quality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Set appropriate validation thresholds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Monitor validation rates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Resource Management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Configure timeouts and retries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Right-size clusters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Error Handling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Comprehensive try/catch blocks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Alert on failures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Monitoring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Use LogWriter for execution tracking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Query execution history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Error Handling &amp;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1E1E1E"/>
          </a:solidFill>
          <a:ln w="38100">
            <a:solidFill>
              <a:srgbClr val="00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Performance Optimization Tips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LogWriter tracks all executions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Query execution history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Performance trends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Error tracking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Data quality metrics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Cluster Sizing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Right-size for workload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Use auto-scaling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Delta Optimizations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Auto-compact enabled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Optimize writes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Parallel Execution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Enable for independent steps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Configure worker count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Data Partitioning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Partition large tables by date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Optimize query performance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Query Optimization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Keep statistics updated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Use adaptive query execution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Security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Access Control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Configure permissions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Role-based access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Data Lineage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Automatic tracking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Source → Bronze → Silver → Gold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Audit Logging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Comprehensive execution logs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Who, when, what processed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Schema Validation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Automatic schema checks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Reject incompatible changes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E-Commerce Analytics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Process clicks, views, purchases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Enrich with customer profiles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Calculate daily revenue metrics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Schedule daily incremental updates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Complete Pipeline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1E1E1E"/>
          </a:solidFill>
          <a:ln w="38100">
            <a:solidFill>
              <a:srgbClr val="00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Results &amp;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Execution logged in monitoring.pipeline_logs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Track success rates, durations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Monitor data quality</a:t>
            </a:r>
          </a:p>
          <a:p>
            <a:pPr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Query execution history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Development Time Savings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solidFill>
            <a:srgbClr val="1E1E1E"/>
          </a:solidFill>
          <a:ln w="38100">
            <a:solidFill>
              <a:srgbClr val="007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8046720" cy="4846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**Chart/Graph:**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- Bar chart showing before/after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- Time savings visualization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**Images to Insert:**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- Before/After comparison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- Time savings chart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- Code reduction visualization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- Metrics dashboard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**Layout:** Comparison with charts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---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### Slide 47: Performance &amp; Cost Benefits</a:t>
            </a: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800">
                <a:solidFill>
                  <a:srgbClr val="D4D4D4"/>
                </a:solidFill>
                <a:latin typeface="Consolas"/>
              </a:defRPr>
            </a:pPr>
            <a:r>
              <a:t>**Title (44pt, Bold):**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ROI Calculation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Key Takeaways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1828800" cy="73152"/>
          </a:xfrm>
          <a:prstGeom prst="rect">
            <a:avLst/>
          </a:prstGeom>
          <a:solidFill>
            <a:srgbClr val="007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  <a:defRPr sz="4400" b="1">
                <a:solidFill>
                  <a:srgbClr val="0073E6"/>
                </a:solidFill>
                <a:latin typeface="Calibri"/>
              </a:defRPr>
            </a:pPr>
            <a:r>
              <a:t>Thank You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  <a:defRPr sz="3200" b="1">
                <a:solidFill>
                  <a:srgbClr val="000000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Documentation: sparkforge.readthedocs.io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GitHub: github.com/eddiethedean/sparkforge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Examples: examples/databricks/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Validation errors → Check thresholds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Incremental not working → Verify timestamp column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Slow execution → Enable parallel, optimize cluster</a:t>
            </a:r>
          </a:p>
          <a:p>
            <a:pPr>
              <a:spcAft>
                <a:spcPts val="600"/>
              </a:spcAft>
              <a:defRPr sz="2400">
                <a:solidFill>
                  <a:srgbClr val="000000"/>
                </a:solidFill>
              </a:defRPr>
            </a:pPr>
            <a:r>
              <a:t>Tables not created → Check schema permissions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